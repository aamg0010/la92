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99630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09728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dentry</a:t>
            </a:r>
            <a:r>
              <a:rPr lang="en-US" sz="7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731520" y="246888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kern="0" spc="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identity guide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731520" y="3200400"/>
            <a:ext cx="109728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34747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 gestion dental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43891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Desarrollado por Try! Company  |  2026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858000" y="914400"/>
            <a:ext cx="2011680" cy="2011680"/>
          </a:xfrm>
          <a:prstGeom prst="ellipse">
            <a:avLst/>
          </a:prstGeom>
          <a:solidFill>
            <a:srgbClr val="2DD4BF">
              <a:alpha val="8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7315200" y="2286000"/>
            <a:ext cx="1371600" cy="1371600"/>
          </a:xfrm>
          <a:prstGeom prst="ellipse">
            <a:avLst/>
          </a:prstGeom>
          <a:solidFill>
            <a:srgbClr val="4F46E5">
              <a:alpha val="80000"/>
            </a:srgbClr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historia detras del nombre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3152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40000"/>
              </a:lnSpc>
              <a:buNone/>
            </a:pPr>
            <a:r>
              <a:rPr lang="en-US" sz="1600" b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Dentry!</a:t>
            </a:r>
            <a:r>
              <a:rPr lang="en-US" sz="1400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nace de la interseccion entre odontologia y tecnologia. Su nombre contiene tres capas de significado que se revelan progresivamente: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731520" y="2377440"/>
            <a:ext cx="246888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377440"/>
            <a:ext cx="2468880" cy="54864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315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05840" y="32004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Raiz dental inmediata.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Identificacion sectorial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primer contacto.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2377440"/>
            <a:ext cx="246888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474720" y="2377440"/>
            <a:ext cx="2468880" cy="54864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F46E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34747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32004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ADN de Try! Company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escondido en el nombre.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huevo de pascua sutil.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217920" y="2377440"/>
            <a:ext cx="2468880" cy="2011680"/>
          </a:xfrm>
          <a:prstGeom prst="rect">
            <a:avLst/>
          </a:prstGeom>
          <a:solidFill>
            <a:srgbClr val="F1F5F9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2377440"/>
            <a:ext cx="24688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2560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217920" y="288036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ENTRY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492240" y="320040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puerta de entrada a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gestion dental moderna.</a:t>
            </a:r>
            <a:endParaRPr lang="en-US" sz="1100" dirty="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Acceso, gateway, inicio.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31520" y="45720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signo </a:t>
            </a:r>
            <a:r>
              <a:rPr lang="en-US" sz="1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es el hilo invisible que conecta Dentry! con Try! Company — presente en ambas marcas.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Valores de marca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Dentry! representa en cada interaccion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2468880" cy="1463040"/>
          </a:xfrm>
          <a:prstGeom prst="rect">
            <a:avLst/>
          </a:prstGeom>
          <a:solidFill>
            <a:srgbClr val="3730A3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14400" y="1554480"/>
            <a:ext cx="502920" cy="502920"/>
          </a:xfrm>
          <a:prstGeom prst="ellipse">
            <a:avLst/>
          </a:prstGeom>
          <a:solidFill>
            <a:srgbClr val="3730A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1664208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Confiable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5448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y seguridad en cada dato clinico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3474720" y="1371600"/>
            <a:ext cx="2468880" cy="1463040"/>
          </a:xfrm>
          <a:prstGeom prst="rect">
            <a:avLst/>
          </a:prstGeom>
          <a:solidFill>
            <a:srgbClr val="4F46E5">
              <a:alpha val="15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3657600" y="1554480"/>
            <a:ext cx="502920" cy="502920"/>
          </a:xfrm>
          <a:prstGeom prst="ellipse">
            <a:avLst/>
          </a:prstGeom>
          <a:solidFill>
            <a:srgbClr val="4F46E5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7328" y="1664208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9768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Inteligente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29768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datos, no en intuicion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217920" y="1371600"/>
            <a:ext cx="2468880" cy="1463040"/>
          </a:xfrm>
          <a:prstGeom prst="rect">
            <a:avLst/>
          </a:prstGeom>
          <a:solidFill>
            <a:srgbClr val="0D9488">
              <a:alpha val="1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6400800" y="155448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0528" y="1664208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040880" y="155448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Cercana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7040880" y="187452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Tecnologia que no intimida, que acompana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3108960"/>
            <a:ext cx="2468880" cy="1463040"/>
          </a:xfrm>
          <a:prstGeom prst="rect">
            <a:avLst/>
          </a:prstGeom>
          <a:solidFill>
            <a:srgbClr val="7C3AED">
              <a:alpha val="15000"/>
            </a:srgbClr>
          </a:solidFill>
          <a:ln/>
        </p:spPr>
      </p:sp>
      <p:sp>
        <p:nvSpPr>
          <p:cNvPr id="20" name="Shape 15"/>
          <p:cNvSpPr/>
          <p:nvPr/>
        </p:nvSpPr>
        <p:spPr>
          <a:xfrm>
            <a:off x="914400" y="3291840"/>
            <a:ext cx="502920" cy="502920"/>
          </a:xfrm>
          <a:prstGeom prst="ellipse">
            <a:avLst/>
          </a:prstGeom>
          <a:solidFill>
            <a:srgbClr val="7C3AED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4128" y="3401568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55448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Agil</a:t>
            </a:r>
            <a:endParaRPr lang="en-US" sz="1600" dirty="0"/>
          </a:p>
        </p:txBody>
      </p:sp>
      <p:sp>
        <p:nvSpPr>
          <p:cNvPr id="23" name="Text 17"/>
          <p:cNvSpPr/>
          <p:nvPr/>
        </p:nvSpPr>
        <p:spPr>
          <a:xfrm>
            <a:off x="155448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 rapidos que respetan el ritmo clinico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3474720" y="3108960"/>
            <a:ext cx="2468880" cy="1463040"/>
          </a:xfrm>
          <a:prstGeom prst="rect">
            <a:avLst/>
          </a:prstGeom>
          <a:solidFill>
            <a:srgbClr val="0EA5E9">
              <a:alpha val="15000"/>
            </a:srgbClr>
          </a:solidFill>
          <a:ln/>
        </p:spPr>
      </p:sp>
      <p:sp>
        <p:nvSpPr>
          <p:cNvPr id="25" name="Shape 19"/>
          <p:cNvSpPr/>
          <p:nvPr/>
        </p:nvSpPr>
        <p:spPr>
          <a:xfrm>
            <a:off x="3657600" y="3291840"/>
            <a:ext cx="502920" cy="502920"/>
          </a:xfrm>
          <a:prstGeom prst="ellipse">
            <a:avLst/>
          </a:prstGeom>
          <a:solidFill>
            <a:srgbClr val="0EA5E9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767328" y="3401568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29768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Transparente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29768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costos ocultos, sin complejidad innecesaria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17920" y="3108960"/>
            <a:ext cx="2468880" cy="1463040"/>
          </a:xfrm>
          <a:prstGeom prst="rect">
            <a:avLst/>
          </a:prstGeom>
          <a:solidFill>
            <a:srgbClr val="F97066">
              <a:alpha val="15000"/>
            </a:srgbClr>
          </a:solidFill>
          <a:ln/>
        </p:spPr>
      </p:sp>
      <p:sp>
        <p:nvSpPr>
          <p:cNvPr id="30" name="Shape 23"/>
          <p:cNvSpPr/>
          <p:nvPr/>
        </p:nvSpPr>
        <p:spPr>
          <a:xfrm>
            <a:off x="6400800" y="3291840"/>
            <a:ext cx="502920" cy="502920"/>
          </a:xfrm>
          <a:prstGeom prst="ellipse">
            <a:avLst/>
          </a:prstGeom>
          <a:solidFill>
            <a:srgbClr val="F97066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0528" y="3401568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040880" y="329184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Evolutiva</a:t>
            </a:r>
            <a:endParaRPr lang="en-US" sz="1600" dirty="0"/>
          </a:p>
        </p:txBody>
      </p:sp>
      <p:sp>
        <p:nvSpPr>
          <p:cNvPr id="33" name="Text 25"/>
          <p:cNvSpPr/>
          <p:nvPr/>
        </p:nvSpPr>
        <p:spPr>
          <a:xfrm>
            <a:off x="7040880" y="3611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Crece con la clinica, se adapta al cambio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Paleta cromatica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3152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Inspirada en la confianza medica y la innovacion tecnologica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554480"/>
            <a:ext cx="1463040" cy="164592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#0D0D2B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Midnight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Fondos premium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31720" y="1554480"/>
            <a:ext cx="1463040" cy="164592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0" name="Text 8"/>
          <p:cNvSpPr/>
          <p:nvPr/>
        </p:nvSpPr>
        <p:spPr>
          <a:xfrm>
            <a:off x="233172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#3730A3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3172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 indigo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3317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primario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931920" y="1554480"/>
            <a:ext cx="1463040" cy="1645920"/>
          </a:xfrm>
          <a:prstGeom prst="rect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393192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#4F46E5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93192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Electric indigo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9319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Acciones y CTAs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532120" y="1554480"/>
            <a:ext cx="1463040" cy="1645920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18" name="Text 16"/>
          <p:cNvSpPr/>
          <p:nvPr/>
        </p:nvSpPr>
        <p:spPr>
          <a:xfrm>
            <a:off x="553212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#2DD4BF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3212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321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Acento vital (el !)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7132320" y="1554480"/>
            <a:ext cx="1463040" cy="1645920"/>
          </a:xfrm>
          <a:prstGeom prst="rect">
            <a:avLst/>
          </a:prstGeom>
          <a:solidFill>
            <a:srgbClr val="F97066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0" y="329184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#F97066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7132320" y="35204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Coral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132320" y="374904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y calidez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1520" y="4206240"/>
            <a:ext cx="7772400" cy="7315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297680"/>
            <a:ext cx="7406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Conexion sutil con Try! Company: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indigo de Dentry! es una evolucion del azul electrico de Try!. El mint reinterpreta el verde lima con madurez clinica. Ambas marcas comparten el ADN cromatico sin copiarse.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Sistema tipografico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3152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3840480" cy="54864"/>
          </a:xfrm>
          <a:prstGeom prst="rect">
            <a:avLst/>
          </a:prstGeom>
          <a:solidFill>
            <a:srgbClr val="3730A3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Titulares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0584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Georgia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100584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Serif con personalidad. Elegante pero accesible.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con la tradicion medica y aporta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 editorial a la comunicacion.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0584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Aa Bb Cc 123 !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46320" y="1188720"/>
            <a:ext cx="3840480" cy="54864"/>
          </a:xfrm>
          <a:prstGeom prst="rect">
            <a:avLst/>
          </a:prstGeom>
          <a:solidFill>
            <a:srgbClr val="2DD4BF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0640" y="1463040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4630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 de texto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120640" y="192024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E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Calibri</a:t>
            </a:r>
            <a:endParaRPr lang="en-US" sz="3600" dirty="0"/>
          </a:p>
        </p:txBody>
      </p:sp>
      <p:sp>
        <p:nvSpPr>
          <p:cNvPr id="16" name="Text 12"/>
          <p:cNvSpPr/>
          <p:nvPr/>
        </p:nvSpPr>
        <p:spPr>
          <a:xfrm>
            <a:off x="5120640" y="2468880"/>
            <a:ext cx="3200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Sans-serif limpia y neutral. Alta legibilidad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interfaces digitales y documentos.</a:t>
            </a:r>
            <a:endParaRPr lang="en-US" sz="1200" dirty="0"/>
          </a:p>
          <a:p>
            <a:pPr marL="0" indent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compite con el contenido clinico.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12064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 Bb Cc 123 !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"!" en el logotipo siempre usa Georgia Bold en color Mint (#2DD4BF)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Concepto del logotipo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371600" y="118872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dentry</a:t>
            </a:r>
            <a:r>
              <a:rPr lang="en-US" sz="54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1463040" y="2468880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5" name="Shape 3"/>
          <p:cNvSpPr/>
          <p:nvPr/>
        </p:nvSpPr>
        <p:spPr>
          <a:xfrm>
            <a:off x="1517904" y="2578608"/>
            <a:ext cx="0" cy="365760"/>
          </a:xfrm>
          <a:prstGeom prst="line">
            <a:avLst/>
          </a:prstGeom>
          <a:noFill/>
          <a:ln w="6350">
            <a:solidFill>
              <a:srgbClr val="2DD4BF"/>
            </a:solidFill>
            <a:prstDash val="dash"/>
          </a:ln>
        </p:spPr>
      </p:sp>
      <p:sp>
        <p:nvSpPr>
          <p:cNvPr id="6" name="Text 4"/>
          <p:cNvSpPr/>
          <p:nvPr/>
        </p:nvSpPr>
        <p:spPr>
          <a:xfrm>
            <a:off x="7315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Minuscula intencionada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Accesibilidad, cercania, modernidad tech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06240" y="2468880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9" name="Shape 7"/>
          <p:cNvSpPr/>
          <p:nvPr/>
        </p:nvSpPr>
        <p:spPr>
          <a:xfrm>
            <a:off x="4261104" y="2578608"/>
            <a:ext cx="0" cy="365760"/>
          </a:xfrm>
          <a:prstGeom prst="line">
            <a:avLst/>
          </a:prstGeom>
          <a:noFill/>
          <a:ln w="6350">
            <a:solidFill>
              <a:srgbClr val="2DD4BF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34747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Georgia Bold serif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4747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 medica, tradicion, solidez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49440" y="2468880"/>
            <a:ext cx="109728" cy="109728"/>
          </a:xfrm>
          <a:prstGeom prst="ellipse">
            <a:avLst/>
          </a:prstGeom>
          <a:solidFill>
            <a:srgbClr val="2DD4BF"/>
          </a:solidFill>
          <a:ln/>
        </p:spPr>
      </p:sp>
      <p:sp>
        <p:nvSpPr>
          <p:cNvPr id="13" name="Shape 11"/>
          <p:cNvSpPr/>
          <p:nvPr/>
        </p:nvSpPr>
        <p:spPr>
          <a:xfrm>
            <a:off x="7004304" y="2578608"/>
            <a:ext cx="0" cy="365760"/>
          </a:xfrm>
          <a:prstGeom prst="line">
            <a:avLst/>
          </a:prstGeom>
          <a:noFill/>
          <a:ln w="6350">
            <a:solidFill>
              <a:srgbClr val="2DD4BF"/>
            </a:solidFill>
            <a:prstDash val="dash"/>
          </a:ln>
        </p:spPr>
      </p:sp>
      <p:sp>
        <p:nvSpPr>
          <p:cNvPr id="14" name="Text 12"/>
          <p:cNvSpPr/>
          <p:nvPr/>
        </p:nvSpPr>
        <p:spPr>
          <a:xfrm>
            <a:off x="6217920" y="30175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 en mint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329184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vinculo con Try!, energia, accion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38404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Variaciones del logotipo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31520" y="4206240"/>
            <a:ext cx="2560320" cy="64008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206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dentry</a:t>
            </a:r>
            <a:r>
              <a:rPr lang="en-US" sz="2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3474720" y="4206240"/>
            <a:ext cx="2560320" cy="64008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4206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dentry</a:t>
            </a:r>
            <a:r>
              <a:rPr lang="en-US" sz="2000" b="1" dirty="0">
                <a:solidFill>
                  <a:srgbClr val="0D948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6217920" y="4206240"/>
            <a:ext cx="2560320" cy="64008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22" name="Text 20"/>
          <p:cNvSpPr/>
          <p:nvPr/>
        </p:nvSpPr>
        <p:spPr>
          <a:xfrm>
            <a:off x="6217920" y="4206240"/>
            <a:ext cx="2560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dentry</a:t>
            </a:r>
            <a:r>
              <a:rPr lang="en-US" sz="2000" b="1" dirty="0">
                <a:solidFill>
                  <a:srgbClr val="64748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Arquitectura de marca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3152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515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conviven Dentry! y Try! Company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286000" y="1554480"/>
            <a:ext cx="4572000" cy="64008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0" y="1554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</a:t>
            </a:r>
            <a:r>
              <a:rPr lang="en-US" sz="2000" b="1" dirty="0">
                <a:solidFill>
                  <a:srgbClr val="B8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Company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0" y="2194560"/>
            <a:ext cx="0" cy="548640"/>
          </a:xfrm>
          <a:prstGeom prst="line">
            <a:avLst/>
          </a:prstGeom>
          <a:noFill/>
          <a:ln w="12700">
            <a:solidFill>
              <a:srgbClr val="94A3B8"/>
            </a:solidFill>
            <a:prstDash val="dash"/>
          </a:ln>
        </p:spPr>
      </p:sp>
      <p:sp>
        <p:nvSpPr>
          <p:cNvPr id="8" name="Text 6"/>
          <p:cNvSpPr/>
          <p:nvPr/>
        </p:nvSpPr>
        <p:spPr>
          <a:xfrm>
            <a:off x="3840480" y="233172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desarrolla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86000" y="2743200"/>
            <a:ext cx="4572000" cy="64008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0" y="27432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dentry</a:t>
            </a:r>
            <a:r>
              <a:rPr lang="en-US" sz="2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520" y="3657600"/>
            <a:ext cx="7772400" cy="128016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producto: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1440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"Powered by Try! Company"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footer o seccion About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6616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comunicacion: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56616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Dentry! es la marca protagonista.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Try! aparece en creditos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7947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Hilo conector: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0" y="40690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"!" compartido entre ambas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marcas es el vinculo sutil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Tono de voz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3152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188720"/>
            <a:ext cx="77724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188720"/>
            <a:ext cx="54864" cy="77724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88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Profesional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834640" y="11887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corporativa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0" y="11887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Hablamos con rigor clinico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pero sin jerga innecesaria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7724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31520" y="21031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Cercana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34640" y="21031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informal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Tuteo con respeto.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un colega experto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31520" y="3017520"/>
            <a:ext cx="77724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3017520"/>
            <a:ext cx="54864" cy="777240"/>
          </a:xfrm>
          <a:prstGeom prst="rect">
            <a:avLst/>
          </a:prstGeom>
          <a:solidFill>
            <a:srgbClr val="3730A3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Directa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34640" y="30175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fria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029200" y="30175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grano con empatia.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Valoramos el tiempo del dentista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3931920"/>
            <a:ext cx="7772400" cy="777240"/>
          </a:xfrm>
          <a:prstGeom prst="rect">
            <a:avLst/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931920"/>
            <a:ext cx="54864" cy="7772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Confiada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2834640" y="3931920"/>
            <a:ext cx="1828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970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arrogante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9319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Sabemos lo que hacemos.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necesidad de demostrarlo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31520" y="47548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Herencia de Try! Company: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inteligencia y transparencia del arquetipo del Creador, adaptada al contexto clinico con mayor seriedad y confianza.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2004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Arquetipo de marca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100584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sabio confiable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5029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Donde Try! Company encarna al Creador — audaz, artistico, excéntrico —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Dentry! es su complemento natural: el Sabio. Aquel que domina su campo</a:t>
            </a:r>
            <a:endParaRPr lang="en-US" sz="14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precision y comparte su conocimiento para empoderar a otros.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" y="3017520"/>
            <a:ext cx="3657600" cy="1645920"/>
          </a:xfrm>
          <a:prstGeom prst="rect">
            <a:avLst/>
          </a:prstGeom>
          <a:solidFill>
            <a:srgbClr val="3730A3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Try! Company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Creador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14400" y="3749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Audaz, excentrica, artistica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Innovacion disruptiva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revolucion es el mindset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46320" y="3017520"/>
            <a:ext cx="3657600" cy="1645920"/>
          </a:xfrm>
          <a:prstGeom prst="rect">
            <a:avLst/>
          </a:prstGeom>
          <a:solidFill>
            <a:srgbClr val="0D9488">
              <a:alpha val="3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3108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Dentry!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46320" y="34290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2DD4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Sabio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029200" y="3749040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Confiable, preciso, empoderador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Conocimiento como servicio</a:t>
            </a:r>
            <a:endParaRPr lang="en-US" sz="11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eficiencia es el resultado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1B4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Propuesta de valor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914400"/>
            <a:ext cx="73152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371600"/>
            <a:ext cx="7772400" cy="1371600"/>
          </a:xfrm>
          <a:prstGeom prst="rect">
            <a:avLst/>
          </a:prstGeom>
          <a:solidFill>
            <a:srgbClr val="0D0D2B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3716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 clinica, </a:t>
            </a:r>
            <a:r>
              <a:rPr lang="en-US" sz="32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paso adelante</a:t>
            </a: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1097280" y="2286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Tagline principal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3017520"/>
            <a:ext cx="7772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01752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gestion dental que piensa contigo.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0" y="30175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Campanas de producto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31520" y="3657600"/>
            <a:ext cx="7772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365760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Menos pantallas. Mas pacientes.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943600" y="3657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/ performance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7772400" cy="502920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29768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3730A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Inteligencia clinica en cada clic.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94360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Comunicacion tecnica / B2B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31520" y="46634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30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 del manifiesto Try!: </a:t>
            </a: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"Partners to make it possible" se traduce en Dentry! como la promesa de ser el aliado tecnologico que permite al dentista enfocarse en lo que importa: sus pacientes.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0D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dentry</a:t>
            </a:r>
            <a:r>
              <a:rPr lang="en-US" sz="6000" b="1" dirty="0">
                <a:solidFill>
                  <a:srgbClr val="2DD4B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 clinica, un paso adelante.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840480" y="2743200"/>
            <a:ext cx="1463040" cy="36576"/>
          </a:xfrm>
          <a:prstGeom prst="rect">
            <a:avLst/>
          </a:prstGeom>
          <a:solidFill>
            <a:srgbClr val="2DD4BF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0175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</a:t>
            </a:r>
            <a:r>
              <a:rPr lang="en-US" sz="1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try</a:t>
            </a:r>
            <a:r>
              <a:rPr lang="en-US" sz="1400" b="1" dirty="0">
                <a:solidFill>
                  <a:srgbClr val="B8F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Company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74320" y="3474720"/>
            <a:ext cx="1371600" cy="1371600"/>
          </a:xfrm>
          <a:prstGeom prst="ellipse">
            <a:avLst/>
          </a:prstGeom>
          <a:solidFill>
            <a:srgbClr val="3730A3">
              <a:alpha val="2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315200" y="274320"/>
            <a:ext cx="1645920" cy="1645920"/>
          </a:xfrm>
          <a:prstGeom prst="ellipse">
            <a:avLst/>
          </a:prstGeom>
          <a:solidFill>
            <a:srgbClr val="2DD4BF">
              <a:alpha val="12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dentry.trycompany.es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701</Words>
  <Application>Microsoft Office PowerPoint</Application>
  <PresentationFormat>Presentación en pantalla (16:9)</PresentationFormat>
  <Paragraphs>152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Dentry! — Brand Identity Guide</dc:title>
  <dc:subject>PptxGenJS Presentation</dc:subject>
  <dc:creator>Try! Company</dc:creator>
  <cp:lastModifiedBy>ANDRES MARTINEZ GONZALEZ</cp:lastModifiedBy>
  <cp:revision>1</cp:revision>
  <dcterms:created xsi:type="dcterms:W3CDTF">2026-03-31T08:39:25Z</dcterms:created>
  <dcterms:modified xsi:type="dcterms:W3CDTF">2026-03-31T10:48:07Z</dcterms:modified>
</cp:coreProperties>
</file>